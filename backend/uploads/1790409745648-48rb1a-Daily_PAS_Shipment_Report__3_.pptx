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SMS Sent</c:v>
                </c:pt>
              </c:strCache>
            </c:strRef>
          </c:tx>
          <c:spPr>
            <a:solidFill>
              <a:srgbClr val="CDEAE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7/19</c:v>
                </c:pt>
                <c:pt idx="1">
                  <c:v>7/20</c:v>
                </c:pt>
                <c:pt idx="2">
                  <c:v>7/21</c:v>
                </c:pt>
                <c:pt idx="3">
                  <c:v>7/22</c:v>
                </c:pt>
                <c:pt idx="4">
                  <c:v>7/23</c:v>
                </c:pt>
                <c:pt idx="5">
                  <c:v>7/24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373</c:v>
                </c:pt>
                <c:pt idx="2">
                  <c:v>405</c:v>
                </c:pt>
                <c:pt idx="3">
                  <c:v>401</c:v>
                </c:pt>
                <c:pt idx="4">
                  <c:v>440</c:v>
                </c:pt>
                <c:pt idx="5">
                  <c:v>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76-4549-B042-B4ED8DFAA3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SMS Delivered</c:v>
                </c:pt>
              </c:strCache>
            </c:strRef>
          </c:tx>
          <c:spPr>
            <a:solidFill>
              <a:srgbClr val="0B7A6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7/19</c:v>
                </c:pt>
                <c:pt idx="1">
                  <c:v>7/20</c:v>
                </c:pt>
                <c:pt idx="2">
                  <c:v>7/21</c:v>
                </c:pt>
                <c:pt idx="3">
                  <c:v>7/22</c:v>
                </c:pt>
                <c:pt idx="4">
                  <c:v>7/23</c:v>
                </c:pt>
                <c:pt idx="5">
                  <c:v>7/24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373</c:v>
                </c:pt>
                <c:pt idx="2">
                  <c:v>405</c:v>
                </c:pt>
                <c:pt idx="3">
                  <c:v>401</c:v>
                </c:pt>
                <c:pt idx="4">
                  <c:v>440</c:v>
                </c:pt>
                <c:pt idx="5">
                  <c:v>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76-4549-B042-B4ED8DFAA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98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5C5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663440"/>
            <a:ext cx="2743200" cy="2743200"/>
          </a:xfrm>
          <a:prstGeom prst="ellipse">
            <a:avLst/>
          </a:prstGeom>
          <a:solidFill>
            <a:srgbClr val="129E8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PERFORMANCE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233172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PAS Shipment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Operations Summary  ·  July 19–24,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Selam Kassu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5FAA9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108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— Branch Network: Addis Ababa · Kera · Merkato · Bahir Dar · Gonder · Mekelle · Hawassa · Jimma · Adama · Diredawa · Harer · Dessie · Kombolcha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Six-day snapshot across all branches, 19–24 July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2F8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SMS Success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(SSR)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2F8F6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039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Notification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2F8F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2,016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039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SMS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2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0391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Daily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week showed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 SMS notifications performed flawlessly  SSR held at 100% every single day, with zero failed messages across 2,016 SMS sent.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Shipment volume surged after a near-idle start on 7/19 (just 14 shipments across 2 active branches), peaking at 440 shipments on 7/23.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branch network expanded from 6 to 13 branches on 7/20, nearly tripling daily throughput overnight.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Recurring process gap: shipments collected after dispatch but not updated to “Shipped” status, most persistent at Gonder and Mekelle.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branch reached a full week of “Completed” status; Kera and Merkato were the most consistent performers, completing every day they were active</a:t>
            </a: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 |  Daily PAS Shipment Report  |  Jul 19–24,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Performance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SMS sent vs. delivered, with SMS Success Rate (SSR)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Sent vs. Delivered by Day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73609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69164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F2F8F6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SSR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224028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95560" y="224028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21040" y="2788920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284378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95560" y="284378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21040" y="3392424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44728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95560" y="344728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321040" y="3995928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405079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195560" y="405079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321040" y="4599432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465429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95560" y="465429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321040" y="5202936"/>
            <a:ext cx="3108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52578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95560" y="525780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 |  Daily PAS Shipment Report  |  Jul 19–24,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Status by 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dispatch status, all branches, 19–24 July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0524744" cy="292608"/>
          </a:xfrm>
          <a:prstGeom prst="rect">
            <a:avLst/>
          </a:prstGeom>
          <a:solidFill>
            <a:srgbClr val="0A3A33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83864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01768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19672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37576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55480" y="129844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591056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91056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C24B3D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75304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3575304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93208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208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11112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29016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22" name="Text 20"/>
          <p:cNvSpPr/>
          <p:nvPr/>
        </p:nvSpPr>
        <p:spPr>
          <a:xfrm>
            <a:off x="8129016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46920" y="162763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9646920" y="162763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1897380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897380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57400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9AA3AE"/>
          </a:solidFill>
          <a:ln/>
        </p:spPr>
      </p:sp>
      <p:sp>
        <p:nvSpPr>
          <p:cNvPr id="28" name="Text 26"/>
          <p:cNvSpPr/>
          <p:nvPr/>
        </p:nvSpPr>
        <p:spPr>
          <a:xfrm>
            <a:off x="2057400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75304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30" name="Text 28"/>
          <p:cNvSpPr/>
          <p:nvPr/>
        </p:nvSpPr>
        <p:spPr>
          <a:xfrm>
            <a:off x="3575304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93208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32" name="Text 30"/>
          <p:cNvSpPr/>
          <p:nvPr/>
        </p:nvSpPr>
        <p:spPr>
          <a:xfrm>
            <a:off x="5093208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11112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34" name="Text 32"/>
          <p:cNvSpPr/>
          <p:nvPr/>
        </p:nvSpPr>
        <p:spPr>
          <a:xfrm>
            <a:off x="6611112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29016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36" name="Text 34"/>
          <p:cNvSpPr/>
          <p:nvPr/>
        </p:nvSpPr>
        <p:spPr>
          <a:xfrm>
            <a:off x="8129016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646920" y="193395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193395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2203704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2203704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Merkato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57400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9AA3AE"/>
          </a:solidFill>
          <a:ln/>
        </p:spPr>
      </p:sp>
      <p:sp>
        <p:nvSpPr>
          <p:cNvPr id="42" name="Text 40"/>
          <p:cNvSpPr/>
          <p:nvPr/>
        </p:nvSpPr>
        <p:spPr>
          <a:xfrm>
            <a:off x="2057400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575304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44" name="Text 42"/>
          <p:cNvSpPr/>
          <p:nvPr/>
        </p:nvSpPr>
        <p:spPr>
          <a:xfrm>
            <a:off x="3575304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93208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46" name="Text 44"/>
          <p:cNvSpPr/>
          <p:nvPr/>
        </p:nvSpPr>
        <p:spPr>
          <a:xfrm>
            <a:off x="5093208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11112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48" name="Text 46"/>
          <p:cNvSpPr/>
          <p:nvPr/>
        </p:nvSpPr>
        <p:spPr>
          <a:xfrm>
            <a:off x="6611112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29016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50" name="Text 48"/>
          <p:cNvSpPr/>
          <p:nvPr/>
        </p:nvSpPr>
        <p:spPr>
          <a:xfrm>
            <a:off x="8129016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646920" y="224028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52" name="Text 50"/>
          <p:cNvSpPr/>
          <p:nvPr/>
        </p:nvSpPr>
        <p:spPr>
          <a:xfrm>
            <a:off x="9646920" y="224028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2510028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2510028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Bahir Dar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57400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56" name="Text 54"/>
          <p:cNvSpPr/>
          <p:nvPr/>
        </p:nvSpPr>
        <p:spPr>
          <a:xfrm>
            <a:off x="2057400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75304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58" name="Text 56"/>
          <p:cNvSpPr/>
          <p:nvPr/>
        </p:nvSpPr>
        <p:spPr>
          <a:xfrm>
            <a:off x="3575304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93208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60" name="Text 58"/>
          <p:cNvSpPr/>
          <p:nvPr/>
        </p:nvSpPr>
        <p:spPr>
          <a:xfrm>
            <a:off x="5093208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611112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62" name="Text 60"/>
          <p:cNvSpPr/>
          <p:nvPr/>
        </p:nvSpPr>
        <p:spPr>
          <a:xfrm>
            <a:off x="6611112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129016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64" name="Text 62"/>
          <p:cNvSpPr/>
          <p:nvPr/>
        </p:nvSpPr>
        <p:spPr>
          <a:xfrm>
            <a:off x="8129016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646920" y="254660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66" name="Text 64"/>
          <p:cNvSpPr/>
          <p:nvPr/>
        </p:nvSpPr>
        <p:spPr>
          <a:xfrm>
            <a:off x="9646920" y="254660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48640" y="2816352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2816352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Gonder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057400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9AA3AE"/>
          </a:solidFill>
          <a:ln/>
        </p:spPr>
      </p:sp>
      <p:sp>
        <p:nvSpPr>
          <p:cNvPr id="70" name="Text 68"/>
          <p:cNvSpPr/>
          <p:nvPr/>
        </p:nvSpPr>
        <p:spPr>
          <a:xfrm>
            <a:off x="2057400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75304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72" name="Text 70"/>
          <p:cNvSpPr/>
          <p:nvPr/>
        </p:nvSpPr>
        <p:spPr>
          <a:xfrm>
            <a:off x="3575304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093208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74" name="Text 72"/>
          <p:cNvSpPr/>
          <p:nvPr/>
        </p:nvSpPr>
        <p:spPr>
          <a:xfrm>
            <a:off x="5093208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611112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76" name="Text 74"/>
          <p:cNvSpPr/>
          <p:nvPr/>
        </p:nvSpPr>
        <p:spPr>
          <a:xfrm>
            <a:off x="6611112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29016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78" name="Text 76"/>
          <p:cNvSpPr/>
          <p:nvPr/>
        </p:nvSpPr>
        <p:spPr>
          <a:xfrm>
            <a:off x="8129016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646920" y="285292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80" name="Text 78"/>
          <p:cNvSpPr/>
          <p:nvPr/>
        </p:nvSpPr>
        <p:spPr>
          <a:xfrm>
            <a:off x="9646920" y="285292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8640" y="3122676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82" name="Text 80"/>
          <p:cNvSpPr/>
          <p:nvPr/>
        </p:nvSpPr>
        <p:spPr>
          <a:xfrm>
            <a:off x="640080" y="3122676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Mekelle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057400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C24B3D"/>
          </a:solidFill>
          <a:ln/>
        </p:spPr>
      </p:sp>
      <p:sp>
        <p:nvSpPr>
          <p:cNvPr id="84" name="Text 82"/>
          <p:cNvSpPr/>
          <p:nvPr/>
        </p:nvSpPr>
        <p:spPr>
          <a:xfrm>
            <a:off x="2057400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575304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86" name="Text 84"/>
          <p:cNvSpPr/>
          <p:nvPr/>
        </p:nvSpPr>
        <p:spPr>
          <a:xfrm>
            <a:off x="3575304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093208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88" name="Text 86"/>
          <p:cNvSpPr/>
          <p:nvPr/>
        </p:nvSpPr>
        <p:spPr>
          <a:xfrm>
            <a:off x="5093208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611112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90" name="Text 88"/>
          <p:cNvSpPr/>
          <p:nvPr/>
        </p:nvSpPr>
        <p:spPr>
          <a:xfrm>
            <a:off x="6611112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8129016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92" name="Text 90"/>
          <p:cNvSpPr/>
          <p:nvPr/>
        </p:nvSpPr>
        <p:spPr>
          <a:xfrm>
            <a:off x="8129016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646920" y="315925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94" name="Text 92"/>
          <p:cNvSpPr/>
          <p:nvPr/>
        </p:nvSpPr>
        <p:spPr>
          <a:xfrm>
            <a:off x="9646920" y="315925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48640" y="3429000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640080" y="3429000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Hawassa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2057400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98" name="Text 96"/>
          <p:cNvSpPr/>
          <p:nvPr/>
        </p:nvSpPr>
        <p:spPr>
          <a:xfrm>
            <a:off x="2057400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575304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00" name="Text 98"/>
          <p:cNvSpPr/>
          <p:nvPr/>
        </p:nvSpPr>
        <p:spPr>
          <a:xfrm>
            <a:off x="3575304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093208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02" name="Text 100"/>
          <p:cNvSpPr/>
          <p:nvPr/>
        </p:nvSpPr>
        <p:spPr>
          <a:xfrm>
            <a:off x="5093208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611112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04" name="Text 102"/>
          <p:cNvSpPr/>
          <p:nvPr/>
        </p:nvSpPr>
        <p:spPr>
          <a:xfrm>
            <a:off x="6611112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129016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06" name="Text 104"/>
          <p:cNvSpPr/>
          <p:nvPr/>
        </p:nvSpPr>
        <p:spPr>
          <a:xfrm>
            <a:off x="8129016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9646920" y="346557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08" name="Text 106"/>
          <p:cNvSpPr/>
          <p:nvPr/>
        </p:nvSpPr>
        <p:spPr>
          <a:xfrm>
            <a:off x="9646920" y="346557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48640" y="3735324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110" name="Text 108"/>
          <p:cNvSpPr/>
          <p:nvPr/>
        </p:nvSpPr>
        <p:spPr>
          <a:xfrm>
            <a:off x="640080" y="3735324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Jimma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2057400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12" name="Text 110"/>
          <p:cNvSpPr/>
          <p:nvPr/>
        </p:nvSpPr>
        <p:spPr>
          <a:xfrm>
            <a:off x="2057400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575304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14" name="Text 112"/>
          <p:cNvSpPr/>
          <p:nvPr/>
        </p:nvSpPr>
        <p:spPr>
          <a:xfrm>
            <a:off x="3575304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093208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16" name="Text 114"/>
          <p:cNvSpPr/>
          <p:nvPr/>
        </p:nvSpPr>
        <p:spPr>
          <a:xfrm>
            <a:off x="5093208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611112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18" name="Text 116"/>
          <p:cNvSpPr/>
          <p:nvPr/>
        </p:nvSpPr>
        <p:spPr>
          <a:xfrm>
            <a:off x="6611112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8129016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20" name="Text 118"/>
          <p:cNvSpPr/>
          <p:nvPr/>
        </p:nvSpPr>
        <p:spPr>
          <a:xfrm>
            <a:off x="8129016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9646920" y="377190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22" name="Text 120"/>
          <p:cNvSpPr/>
          <p:nvPr/>
        </p:nvSpPr>
        <p:spPr>
          <a:xfrm>
            <a:off x="9646920" y="377190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548640" y="4041648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640080" y="4041648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2057400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26" name="Text 124"/>
          <p:cNvSpPr/>
          <p:nvPr/>
        </p:nvSpPr>
        <p:spPr>
          <a:xfrm>
            <a:off x="2057400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575304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28" name="Text 126"/>
          <p:cNvSpPr/>
          <p:nvPr/>
        </p:nvSpPr>
        <p:spPr>
          <a:xfrm>
            <a:off x="3575304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5093208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30" name="Text 128"/>
          <p:cNvSpPr/>
          <p:nvPr/>
        </p:nvSpPr>
        <p:spPr>
          <a:xfrm>
            <a:off x="5093208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11112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32" name="Text 130"/>
          <p:cNvSpPr/>
          <p:nvPr/>
        </p:nvSpPr>
        <p:spPr>
          <a:xfrm>
            <a:off x="6611112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8129016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34" name="Text 132"/>
          <p:cNvSpPr/>
          <p:nvPr/>
        </p:nvSpPr>
        <p:spPr>
          <a:xfrm>
            <a:off x="8129016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9646920" y="4078224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36" name="Text 134"/>
          <p:cNvSpPr/>
          <p:nvPr/>
        </p:nvSpPr>
        <p:spPr>
          <a:xfrm>
            <a:off x="9646920" y="4078224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548640" y="4347972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0080" y="4347972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Diredawa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2057400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40" name="Text 138"/>
          <p:cNvSpPr/>
          <p:nvPr/>
        </p:nvSpPr>
        <p:spPr>
          <a:xfrm>
            <a:off x="2057400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3575304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142" name="Text 140"/>
          <p:cNvSpPr/>
          <p:nvPr/>
        </p:nvSpPr>
        <p:spPr>
          <a:xfrm>
            <a:off x="3575304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5093208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44" name="Text 142"/>
          <p:cNvSpPr/>
          <p:nvPr/>
        </p:nvSpPr>
        <p:spPr>
          <a:xfrm>
            <a:off x="5093208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6611112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46" name="Text 144"/>
          <p:cNvSpPr/>
          <p:nvPr/>
        </p:nvSpPr>
        <p:spPr>
          <a:xfrm>
            <a:off x="6611112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8129016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48" name="Text 146"/>
          <p:cNvSpPr/>
          <p:nvPr/>
        </p:nvSpPr>
        <p:spPr>
          <a:xfrm>
            <a:off x="8129016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9646920" y="4384548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50" name="Text 148"/>
          <p:cNvSpPr/>
          <p:nvPr/>
        </p:nvSpPr>
        <p:spPr>
          <a:xfrm>
            <a:off x="9646920" y="4384548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548640" y="4654296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2" name="Text 150"/>
          <p:cNvSpPr/>
          <p:nvPr/>
        </p:nvSpPr>
        <p:spPr>
          <a:xfrm>
            <a:off x="640080" y="4654296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Harer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2057400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54" name="Text 152"/>
          <p:cNvSpPr/>
          <p:nvPr/>
        </p:nvSpPr>
        <p:spPr>
          <a:xfrm>
            <a:off x="2057400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575304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56" name="Text 154"/>
          <p:cNvSpPr/>
          <p:nvPr/>
        </p:nvSpPr>
        <p:spPr>
          <a:xfrm>
            <a:off x="3575304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5093208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9AA3AE"/>
          </a:solidFill>
          <a:ln/>
        </p:spPr>
      </p:sp>
      <p:sp>
        <p:nvSpPr>
          <p:cNvPr id="158" name="Text 156"/>
          <p:cNvSpPr/>
          <p:nvPr/>
        </p:nvSpPr>
        <p:spPr>
          <a:xfrm>
            <a:off x="5093208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6611112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60" name="Text 158"/>
          <p:cNvSpPr/>
          <p:nvPr/>
        </p:nvSpPr>
        <p:spPr>
          <a:xfrm>
            <a:off x="6611112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8129016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62" name="Text 160"/>
          <p:cNvSpPr/>
          <p:nvPr/>
        </p:nvSpPr>
        <p:spPr>
          <a:xfrm>
            <a:off x="8129016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9646920" y="4690872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64" name="Text 162"/>
          <p:cNvSpPr/>
          <p:nvPr/>
        </p:nvSpPr>
        <p:spPr>
          <a:xfrm>
            <a:off x="9646920" y="4690872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548640" y="4960620"/>
            <a:ext cx="10524744" cy="306324"/>
          </a:xfrm>
          <a:prstGeom prst="rect">
            <a:avLst/>
          </a:prstGeom>
          <a:solidFill>
            <a:srgbClr val="F2F8F6"/>
          </a:solidFill>
          <a:ln/>
        </p:spPr>
      </p:sp>
      <p:sp>
        <p:nvSpPr>
          <p:cNvPr id="166" name="Text 164"/>
          <p:cNvSpPr/>
          <p:nvPr/>
        </p:nvSpPr>
        <p:spPr>
          <a:xfrm>
            <a:off x="640080" y="4960620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Dessie</a:t>
            </a:r>
            <a:endParaRPr lang="en-US" sz="1050" dirty="0"/>
          </a:p>
        </p:txBody>
      </p:sp>
      <p:sp>
        <p:nvSpPr>
          <p:cNvPr id="167" name="Shape 165"/>
          <p:cNvSpPr/>
          <p:nvPr/>
        </p:nvSpPr>
        <p:spPr>
          <a:xfrm>
            <a:off x="2057400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68" name="Text 166"/>
          <p:cNvSpPr/>
          <p:nvPr/>
        </p:nvSpPr>
        <p:spPr>
          <a:xfrm>
            <a:off x="2057400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575304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/>
        </p:spPr>
      </p:sp>
      <p:sp>
        <p:nvSpPr>
          <p:cNvPr id="170" name="Text 168"/>
          <p:cNvSpPr/>
          <p:nvPr/>
        </p:nvSpPr>
        <p:spPr>
          <a:xfrm>
            <a:off x="3575304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5093208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72" name="Text 170"/>
          <p:cNvSpPr/>
          <p:nvPr/>
        </p:nvSpPr>
        <p:spPr>
          <a:xfrm>
            <a:off x="5093208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6611112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74" name="Text 172"/>
          <p:cNvSpPr/>
          <p:nvPr/>
        </p:nvSpPr>
        <p:spPr>
          <a:xfrm>
            <a:off x="6611112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8129016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76" name="Text 174"/>
          <p:cNvSpPr/>
          <p:nvPr/>
        </p:nvSpPr>
        <p:spPr>
          <a:xfrm>
            <a:off x="8129016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9646920" y="4997196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78" name="Text 176"/>
          <p:cNvSpPr/>
          <p:nvPr/>
        </p:nvSpPr>
        <p:spPr>
          <a:xfrm>
            <a:off x="9646920" y="4997196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548640" y="5266944"/>
            <a:ext cx="10524744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0080" y="5266944"/>
            <a:ext cx="13258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Kombolcha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2057400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EDEFF1"/>
          </a:solidFill>
          <a:ln/>
        </p:spPr>
      </p:sp>
      <p:sp>
        <p:nvSpPr>
          <p:cNvPr id="182" name="Text 180"/>
          <p:cNvSpPr/>
          <p:nvPr/>
        </p:nvSpPr>
        <p:spPr>
          <a:xfrm>
            <a:off x="2057400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575304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84" name="Text 182"/>
          <p:cNvSpPr/>
          <p:nvPr/>
        </p:nvSpPr>
        <p:spPr>
          <a:xfrm>
            <a:off x="3575304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093208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86" name="Text 184"/>
          <p:cNvSpPr/>
          <p:nvPr/>
        </p:nvSpPr>
        <p:spPr>
          <a:xfrm>
            <a:off x="5093208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6611112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88" name="Text 186"/>
          <p:cNvSpPr/>
          <p:nvPr/>
        </p:nvSpPr>
        <p:spPr>
          <a:xfrm>
            <a:off x="6611112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8129016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90" name="Text 188"/>
          <p:cNvSpPr/>
          <p:nvPr/>
        </p:nvSpPr>
        <p:spPr>
          <a:xfrm>
            <a:off x="8129016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9646920" y="5303520"/>
            <a:ext cx="1335024" cy="233172"/>
          </a:xfrm>
          <a:prstGeom prst="roundRect">
            <a:avLst>
              <a:gd name="adj" fmla="val 17647"/>
            </a:avLst>
          </a:prstGeom>
          <a:solidFill>
            <a:srgbClr val="0B7A6B"/>
          </a:solidFill>
          <a:ln/>
        </p:spPr>
      </p:sp>
      <p:sp>
        <p:nvSpPr>
          <p:cNvPr id="192" name="Text 190"/>
          <p:cNvSpPr/>
          <p:nvPr/>
        </p:nvSpPr>
        <p:spPr>
          <a:xfrm>
            <a:off x="9646920" y="5303520"/>
            <a:ext cx="1335024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548640" y="5701284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0B7A6B"/>
          </a:solidFill>
          <a:ln/>
        </p:spPr>
      </p:sp>
      <p:sp>
        <p:nvSpPr>
          <p:cNvPr id="194" name="Text 192"/>
          <p:cNvSpPr/>
          <p:nvPr/>
        </p:nvSpPr>
        <p:spPr>
          <a:xfrm>
            <a:off x="804672" y="56464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95" name="Shape 193"/>
          <p:cNvSpPr/>
          <p:nvPr/>
        </p:nvSpPr>
        <p:spPr>
          <a:xfrm>
            <a:off x="2221992" y="5701284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D99A2B"/>
          </a:solidFill>
          <a:ln/>
        </p:spPr>
      </p:sp>
      <p:sp>
        <p:nvSpPr>
          <p:cNvPr id="196" name="Text 194"/>
          <p:cNvSpPr/>
          <p:nvPr/>
        </p:nvSpPr>
        <p:spPr>
          <a:xfrm>
            <a:off x="2478024" y="56464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3895344" y="5701284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C24B3D"/>
          </a:solidFill>
          <a:ln/>
        </p:spPr>
      </p:sp>
      <p:sp>
        <p:nvSpPr>
          <p:cNvPr id="198" name="Text 196"/>
          <p:cNvSpPr/>
          <p:nvPr/>
        </p:nvSpPr>
        <p:spPr>
          <a:xfrm>
            <a:off x="4151376" y="56464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99" name="Shape 197"/>
          <p:cNvSpPr/>
          <p:nvPr/>
        </p:nvSpPr>
        <p:spPr>
          <a:xfrm>
            <a:off x="5568696" y="5701284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9AA3AE"/>
          </a:solidFill>
          <a:ln/>
        </p:spPr>
      </p:sp>
      <p:sp>
        <p:nvSpPr>
          <p:cNvPr id="200" name="Text 198"/>
          <p:cNvSpPr/>
          <p:nvPr/>
        </p:nvSpPr>
        <p:spPr>
          <a:xfrm>
            <a:off x="5824728" y="56464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7242048" y="5701284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EDEFF1"/>
          </a:solidFill>
          <a:ln/>
        </p:spPr>
      </p:sp>
      <p:sp>
        <p:nvSpPr>
          <p:cNvPr id="202" name="Text 200"/>
          <p:cNvSpPr/>
          <p:nvPr/>
        </p:nvSpPr>
        <p:spPr>
          <a:xfrm>
            <a:off x="7498080" y="56464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onboarded</a:t>
            </a:r>
            <a:endParaRPr lang="en-US" sz="950" dirty="0"/>
          </a:p>
        </p:txBody>
      </p:sp>
      <p:sp>
        <p:nvSpPr>
          <p:cNvPr id="203" name="Text 201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 |  Daily PAS Shipment Report  |  Jul 19–24, 2026</a:t>
            </a:r>
            <a:endParaRPr lang="en-US" sz="900" dirty="0"/>
          </a:p>
        </p:txBody>
      </p:sp>
      <p:sp>
        <p:nvSpPr>
          <p:cNvPr id="204" name="Text 202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Issues Identified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process gaps observed across the reporting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F8F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19072"/>
            <a:ext cx="384048" cy="38404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8249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status updates (Gonder, Mekelle)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are routinely collected after dispatch but not marked “Shipped” in the system, understating branch performance on 7/21 (Gonder 65.0%, Mekelle 84.6% utilization) and 7/22 (Gonder 68.8%).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719072"/>
            <a:ext cx="384048" cy="384048"/>
          </a:xfrm>
          <a:prstGeom prst="ellipse">
            <a:avLst/>
          </a:prstGeom>
          <a:solidFill>
            <a:srgbClr val="129E89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68249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Payment-processing hold (Addis Ababa, 7/23)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8232" y="2304288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shipment (AWB00022620) remained under “Shipment Accepted” because cashier payment was incomplete; the system blocks status changes until payment clears — a payment-process limitation, not a dispatch failure.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325112"/>
            <a:ext cx="384048" cy="384048"/>
          </a:xfrm>
          <a:prstGeom prst="ellipse">
            <a:avLst/>
          </a:prstGeom>
          <a:solidFill>
            <a:srgbClr val="5FAA9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2885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network onboarding dip (7/19 → 7/20)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910328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6 branches were active on 7/19 (14 shipments). Seven new branches went live on 7/20, and two of them — Diredawa and Dessie — posted Partial status on their first full day.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2F8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4325112"/>
            <a:ext cx="384048" cy="384048"/>
          </a:xfrm>
          <a:prstGeom prst="ellipse">
            <a:avLst/>
          </a:prstGeom>
          <a:solidFill>
            <a:srgbClr val="C24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2885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Status/count mismatches (Jimma, Harer, 7/24)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4910328"/>
            <a:ext cx="4837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logged zero physically shipped packages yet were marked “Completed,” pointing to a status flag reconciliation gap in the reporting tool rather than a dispatch problem.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 |  Daily PAS Shipment Report  |  Jul 19–24,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3840480" cy="3840480"/>
          </a:xfrm>
          <a:prstGeom prst="ellipse">
            <a:avLst/>
          </a:prstGeom>
          <a:solidFill>
            <a:srgbClr val="1F5C5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0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network’s core promise to customers  timely notification held perfectly this period, with SMS delivery at 100% every single day and zero failed messages across 2,016 SMS sent.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volume scaled sharply after a quiet, two-branch start on 7/19. The network itself grew from 6 to 13 branches on 7/20, nearly tripling daily throughput to a peak of 440 shipments on 7/23.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kept branches short of a fully clean week were process gaps, not capacity gaps: delayed “Shipped” status updates at Gonder and Mekelle, a payment-processing hold at Addis Ababa, and status/count mismatches at two branches on the final day none of which require new infrastructure to fix.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status-update discipline at collection points, adding a payment confirmation fast path, and reconciling completion logic against actual shipped counts should be enough to move the branch network from mostly Completed to consistently, verifiably Completed.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36267" y="4873752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1F5C50"/>
          </a:solidFill>
          <a:ln/>
        </p:spPr>
      </p:sp>
      <p:sp>
        <p:nvSpPr>
          <p:cNvPr id="6" name="Text 4"/>
          <p:cNvSpPr/>
          <p:nvPr/>
        </p:nvSpPr>
        <p:spPr>
          <a:xfrm>
            <a:off x="3178248" y="5098487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E0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06513" y="55366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daily shipments (7/23)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71989" y="4919472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1F5C5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5126767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FE0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42235" y="55366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SMS success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Ahununu Logistics  |  Daily PAS Shipment Report  |  Jul 19–24,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817</Words>
  <Application>Microsoft Office PowerPoint</Application>
  <PresentationFormat>Widescreen</PresentationFormat>
  <Paragraphs>183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2026-07-25T07:37:36Z</dcterms:created>
  <dcterms:modified xsi:type="dcterms:W3CDTF">2026-07-25T08:12:02Z</dcterms:modified>
</cp:coreProperties>
</file>